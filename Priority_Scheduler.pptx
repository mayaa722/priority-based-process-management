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0"/>
  </p:notesMasterIdLst>
  <p:sldIdLst>
    <p:sldId id="256" r:id="rId2"/>
    <p:sldId id="258" r:id="rId3"/>
    <p:sldId id="261" r:id="rId4"/>
    <p:sldId id="263" r:id="rId5"/>
    <p:sldId id="306" r:id="rId6"/>
    <p:sldId id="259" r:id="rId7"/>
    <p:sldId id="260" r:id="rId8"/>
    <p:sldId id="307" r:id="rId9"/>
    <p:sldId id="279" r:id="rId10"/>
    <p:sldId id="309" r:id="rId11"/>
    <p:sldId id="277" r:id="rId12"/>
    <p:sldId id="308" r:id="rId13"/>
    <p:sldId id="281" r:id="rId14"/>
    <p:sldId id="310" r:id="rId15"/>
    <p:sldId id="288" r:id="rId16"/>
    <p:sldId id="312" r:id="rId17"/>
    <p:sldId id="272" r:id="rId18"/>
    <p:sldId id="285" r:id="rId19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Montserrat" panose="00000500000000000000" pitchFamily="2" charset="0"/>
      <p:regular r:id="rId25"/>
      <p:bold r:id="rId26"/>
      <p:italic r:id="rId27"/>
      <p:boldItalic r:id="rId28"/>
    </p:embeddedFont>
    <p:embeddedFont>
      <p:font typeface="Montserrat ExtraBold" panose="00000900000000000000" pitchFamily="2" charset="0"/>
      <p:bold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EEE"/>
    <a:srgbClr val="0075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69D3CB1-4CF7-499F-BACD-FF82515A48FF}">
  <a:tblStyle styleId="{569D3CB1-4CF7-499F-BACD-FF82515A48F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7f9262ee2f_0_26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7f9262ee2f_0_26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7f9262ee2f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7f9262ee2f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025C86F7-DC52-EF47-34C2-FF7E6B22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C134A0D9-06F0-A32D-13F9-FABB2770F6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2C1AD92D-61F0-9FF1-4874-A747ACDDA2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818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729023341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729023341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729023341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7290233416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B6EF4BE6-E08A-8715-109F-D2B19418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3D908296-A7C4-9DFB-3173-7C2FF8BA05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E50D764D-9ACF-0081-5B8F-0D9AF53A3A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3171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Google Shape;2067;g7f9262ee2f_0_26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8" name="Google Shape;2068;g7f9262ee2f_0_26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0F88799-D2A6-3192-817C-DA93FBC79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007259FB-87BF-07C6-549F-2A5F763570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7477F409-2F06-AE93-DF00-AA8E084787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0214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g7f9262ee2f_0_26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9" name="Google Shape;2039;g7f9262ee2f_0_26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7F400BAE-8D4C-F86E-01DB-9A5F7875C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7CFC88BB-BA4D-4ED8-1D7C-F06555A51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945E49B1-954E-48C7-240C-52E6A34D5B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376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7f9262ee2f_0_263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7f9262ee2f_0_263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E7E0F282-F36B-1965-C10D-4AE90BD73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8F2321F7-C189-BA95-D711-6CA7F5AA91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A4ACFAE0-7B5D-68C5-75E4-D7C0361A9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37143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7" name="Google Shape;2187;g7f9262ee2f_0_26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8" name="Google Shape;2188;g7f9262ee2f_0_26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>
          <a:extLst>
            <a:ext uri="{FF2B5EF4-FFF2-40B4-BE49-F238E27FC236}">
              <a16:creationId xmlns:a16="http://schemas.microsoft.com/office/drawing/2014/main" id="{A497A2DA-BD98-239B-C1E6-909022732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7f9262ee2f_0_0:notes">
            <a:extLst>
              <a:ext uri="{FF2B5EF4-FFF2-40B4-BE49-F238E27FC236}">
                <a16:creationId xmlns:a16="http://schemas.microsoft.com/office/drawing/2014/main" id="{D321717F-08EE-28D5-122E-D38F38AEBF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7f9262ee2f_0_0:notes">
            <a:extLst>
              <a:ext uri="{FF2B5EF4-FFF2-40B4-BE49-F238E27FC236}">
                <a16:creationId xmlns:a16="http://schemas.microsoft.com/office/drawing/2014/main" id="{83A321FC-32F6-84BB-2ACF-FEB332CCA3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6360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g7f9262ee2f_0_26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3" name="Google Shape;1953;g7f9262ee2f_0_26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g7f9262ee2f_0_263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0" name="Google Shape;2150;g7f9262ee2f_0_263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175900" y="1950100"/>
            <a:ext cx="4792200" cy="6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44200" y="3704650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762670" y="3177750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  <a:effectLst>
            <a:outerShdw blurRad="114300" dist="28575" dir="6360000" algn="bl" rotWithShape="0">
              <a:schemeClr val="accent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762670" y="3720650"/>
            <a:ext cx="30687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5037525" y="1659275"/>
            <a:ext cx="31869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353849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subTitle" idx="1"/>
          </p:nvPr>
        </p:nvSpPr>
        <p:spPr>
          <a:xfrm>
            <a:off x="353849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title" idx="2"/>
          </p:nvPr>
        </p:nvSpPr>
        <p:spPr>
          <a:xfrm>
            <a:off x="6028553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subTitle" idx="3"/>
          </p:nvPr>
        </p:nvSpPr>
        <p:spPr>
          <a:xfrm>
            <a:off x="6028553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title" idx="4"/>
          </p:nvPr>
        </p:nvSpPr>
        <p:spPr>
          <a:xfrm>
            <a:off x="1048447" y="261557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subTitle" idx="5"/>
          </p:nvPr>
        </p:nvSpPr>
        <p:spPr>
          <a:xfrm>
            <a:off x="1048447" y="3148075"/>
            <a:ext cx="20670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title" idx="6" hasCustomPrompt="1"/>
          </p:nvPr>
        </p:nvSpPr>
        <p:spPr>
          <a:xfrm>
            <a:off x="10484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" name="Google Shape;52;p14"/>
          <p:cNvSpPr txBox="1">
            <a:spLocks noGrp="1"/>
          </p:cNvSpPr>
          <p:nvPr>
            <p:ph type="title" idx="7" hasCustomPrompt="1"/>
          </p:nvPr>
        </p:nvSpPr>
        <p:spPr>
          <a:xfrm>
            <a:off x="353850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14"/>
          <p:cNvSpPr txBox="1">
            <a:spLocks noGrp="1"/>
          </p:cNvSpPr>
          <p:nvPr>
            <p:ph type="title" idx="8" hasCustomPrompt="1"/>
          </p:nvPr>
        </p:nvSpPr>
        <p:spPr>
          <a:xfrm>
            <a:off x="6028550" y="1770700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None/>
              <a:defRPr sz="3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85500" y="2832875"/>
            <a:ext cx="3657300" cy="644700"/>
          </a:xfrm>
          <a:prstGeom prst="rect">
            <a:avLst/>
          </a:prstGeom>
          <a:effectLst>
            <a:outerShdw blurRad="57150" dist="19050" dir="5400000" algn="bl" rotWithShape="0">
              <a:srgbClr val="76A5AF">
                <a:alpha val="88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144050" y="3549850"/>
            <a:ext cx="394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>
            <a:spLocks noGrp="1"/>
          </p:cNvSpPr>
          <p:nvPr>
            <p:ph type="ctrTitle"/>
          </p:nvPr>
        </p:nvSpPr>
        <p:spPr>
          <a:xfrm>
            <a:off x="1850525" y="1157925"/>
            <a:ext cx="5442900" cy="260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subTitle" idx="1"/>
          </p:nvPr>
        </p:nvSpPr>
        <p:spPr>
          <a:xfrm>
            <a:off x="2481900" y="3945600"/>
            <a:ext cx="41802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SECTION_TITLE_AND_DESCRIPTION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>
            <a:spLocks noGrp="1"/>
          </p:cNvSpPr>
          <p:nvPr>
            <p:ph type="title"/>
          </p:nvPr>
        </p:nvSpPr>
        <p:spPr>
          <a:xfrm>
            <a:off x="1937338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subTitle" idx="1"/>
          </p:nvPr>
        </p:nvSpPr>
        <p:spPr>
          <a:xfrm>
            <a:off x="1937338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 idx="2"/>
          </p:nvPr>
        </p:nvSpPr>
        <p:spPr>
          <a:xfrm>
            <a:off x="4816563" y="2463175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ubTitle" idx="3"/>
          </p:nvPr>
        </p:nvSpPr>
        <p:spPr>
          <a:xfrm>
            <a:off x="4816563" y="3148075"/>
            <a:ext cx="239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2">
  <p:cSld name="CAPTION_ONLY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7022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Numbers">
  <p:cSld name="CAPTION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>
            <a:spLocks noGrp="1"/>
          </p:cNvSpPr>
          <p:nvPr>
            <p:ph type="title" hasCustomPrompt="1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3" name="Google Shape;103;p26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title" idx="2" hasCustomPrompt="1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6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title" idx="4" hasCustomPrompt="1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26"/>
          <p:cNvSpPr txBox="1">
            <a:spLocks noGrp="1"/>
          </p:cNvSpPr>
          <p:nvPr>
            <p:ph type="subTitle" idx="5"/>
          </p:nvPr>
        </p:nvSpPr>
        <p:spPr>
          <a:xfrm>
            <a:off x="4911000" y="41405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Six Columns  ">
  <p:cSld name="SECTION_TITLE_AND_DESCRIPTION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>
            <a:spLocks noGrp="1"/>
          </p:cNvSpPr>
          <p:nvPr>
            <p:ph type="title"/>
          </p:nvPr>
        </p:nvSpPr>
        <p:spPr>
          <a:xfrm>
            <a:off x="353849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27"/>
          <p:cNvSpPr txBox="1">
            <a:spLocks noGrp="1"/>
          </p:cNvSpPr>
          <p:nvPr>
            <p:ph type="subTitle" idx="1"/>
          </p:nvPr>
        </p:nvSpPr>
        <p:spPr>
          <a:xfrm>
            <a:off x="3538498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 idx="2"/>
          </p:nvPr>
        </p:nvSpPr>
        <p:spPr>
          <a:xfrm>
            <a:off x="6028553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subTitle" idx="3"/>
          </p:nvPr>
        </p:nvSpPr>
        <p:spPr>
          <a:xfrm>
            <a:off x="6028552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title" idx="5"/>
          </p:nvPr>
        </p:nvSpPr>
        <p:spPr>
          <a:xfrm>
            <a:off x="1048447" y="1818541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6"/>
          </p:nvPr>
        </p:nvSpPr>
        <p:spPr>
          <a:xfrm>
            <a:off x="1048450" y="2324765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" name="Google Shape;116;p27"/>
          <p:cNvSpPr txBox="1">
            <a:spLocks noGrp="1"/>
          </p:cNvSpPr>
          <p:nvPr>
            <p:ph type="title" idx="7"/>
          </p:nvPr>
        </p:nvSpPr>
        <p:spPr>
          <a:xfrm>
            <a:off x="353849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27"/>
          <p:cNvSpPr txBox="1">
            <a:spLocks noGrp="1"/>
          </p:cNvSpPr>
          <p:nvPr>
            <p:ph type="subTitle" idx="8"/>
          </p:nvPr>
        </p:nvSpPr>
        <p:spPr>
          <a:xfrm>
            <a:off x="3538498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title" idx="9"/>
          </p:nvPr>
        </p:nvSpPr>
        <p:spPr>
          <a:xfrm>
            <a:off x="6028553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ubTitle" idx="13"/>
          </p:nvPr>
        </p:nvSpPr>
        <p:spPr>
          <a:xfrm>
            <a:off x="6028552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7"/>
          <p:cNvSpPr txBox="1">
            <a:spLocks noGrp="1"/>
          </p:cNvSpPr>
          <p:nvPr>
            <p:ph type="title" idx="14"/>
          </p:nvPr>
        </p:nvSpPr>
        <p:spPr>
          <a:xfrm>
            <a:off x="1048447" y="332503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7"/>
          <p:cNvSpPr txBox="1">
            <a:spLocks noGrp="1"/>
          </p:cNvSpPr>
          <p:nvPr>
            <p:ph type="subTitle" idx="15"/>
          </p:nvPr>
        </p:nvSpPr>
        <p:spPr>
          <a:xfrm>
            <a:off x="1048450" y="3831259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 1">
  <p:cSld name="TITLE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title" idx="2"/>
          </p:nvPr>
        </p:nvSpPr>
        <p:spPr>
          <a:xfrm>
            <a:off x="1338238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5" name="Google Shape;125;p28"/>
          <p:cNvSpPr txBox="1">
            <a:spLocks noGrp="1"/>
          </p:cNvSpPr>
          <p:nvPr>
            <p:ph type="subTitle" idx="1"/>
          </p:nvPr>
        </p:nvSpPr>
        <p:spPr>
          <a:xfrm>
            <a:off x="1338238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28"/>
          <p:cNvSpPr txBox="1">
            <a:spLocks noGrp="1"/>
          </p:cNvSpPr>
          <p:nvPr>
            <p:ph type="title" idx="3"/>
          </p:nvPr>
        </p:nvSpPr>
        <p:spPr>
          <a:xfrm>
            <a:off x="1338238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subTitle" idx="4"/>
          </p:nvPr>
        </p:nvSpPr>
        <p:spPr>
          <a:xfrm>
            <a:off x="1338238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8"/>
          <p:cNvSpPr txBox="1">
            <a:spLocks noGrp="1"/>
          </p:cNvSpPr>
          <p:nvPr>
            <p:ph type="title" idx="5"/>
          </p:nvPr>
        </p:nvSpPr>
        <p:spPr>
          <a:xfrm>
            <a:off x="5078163" y="2359825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subTitle" idx="6"/>
          </p:nvPr>
        </p:nvSpPr>
        <p:spPr>
          <a:xfrm>
            <a:off x="5078163" y="1713051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28"/>
          <p:cNvSpPr txBox="1">
            <a:spLocks noGrp="1"/>
          </p:cNvSpPr>
          <p:nvPr>
            <p:ph type="title" idx="7"/>
          </p:nvPr>
        </p:nvSpPr>
        <p:spPr>
          <a:xfrm>
            <a:off x="5078163" y="3988950"/>
            <a:ext cx="2727600" cy="3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28"/>
          <p:cNvSpPr txBox="1">
            <a:spLocks noGrp="1"/>
          </p:cNvSpPr>
          <p:nvPr>
            <p:ph type="subTitle" idx="8"/>
          </p:nvPr>
        </p:nvSpPr>
        <p:spPr>
          <a:xfrm>
            <a:off x="5078163" y="3342176"/>
            <a:ext cx="2727600" cy="60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 1">
  <p:cSld name="SECTION_TITLE_AND_DESCRIPTION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4"/>
          <p:cNvSpPr txBox="1">
            <a:spLocks noGrp="1"/>
          </p:cNvSpPr>
          <p:nvPr>
            <p:ph type="title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34"/>
          <p:cNvSpPr txBox="1">
            <a:spLocks noGrp="1"/>
          </p:cNvSpPr>
          <p:nvPr>
            <p:ph type="body" idx="1"/>
          </p:nvPr>
        </p:nvSpPr>
        <p:spPr>
          <a:xfrm>
            <a:off x="938500" y="1659275"/>
            <a:ext cx="4946400" cy="27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ExtraBold"/>
              <a:buNone/>
              <a:defRPr sz="28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8" r:id="rId4"/>
    <p:sldLayoutId id="2147483660" r:id="rId5"/>
    <p:sldLayoutId id="2147483661" r:id="rId6"/>
    <p:sldLayoutId id="2147483662" r:id="rId7"/>
    <p:sldLayoutId id="2147483663" r:id="rId8"/>
    <p:sldLayoutId id="2147483668" r:id="rId9"/>
    <p:sldLayoutId id="2147483672" r:id="rId10"/>
    <p:sldLayoutId id="2147483673" r:id="rId11"/>
    <p:sldLayoutId id="2147483674" r:id="rId12"/>
    <p:sldLayoutId id="2147483678" r:id="rId13"/>
    <p:sldLayoutId id="2147483680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8"/>
          <p:cNvSpPr txBox="1">
            <a:spLocks noGrp="1"/>
          </p:cNvSpPr>
          <p:nvPr>
            <p:ph type="ctrTitle"/>
          </p:nvPr>
        </p:nvSpPr>
        <p:spPr>
          <a:xfrm>
            <a:off x="2175899" y="1716926"/>
            <a:ext cx="4792200" cy="644700"/>
          </a:xfrm>
          <a:prstGeom prst="rect">
            <a:avLst/>
          </a:prstGeom>
          <a:effectLst>
            <a:outerShdw blurRad="142875" dist="19050" dir="87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Priority-Based</a:t>
            </a:r>
            <a:endParaRPr lang="en-US" dirty="0"/>
          </a:p>
        </p:txBody>
      </p:sp>
      <p:sp>
        <p:nvSpPr>
          <p:cNvPr id="163" name="Google Shape;163;p38"/>
          <p:cNvSpPr txBox="1">
            <a:spLocks noGrp="1"/>
          </p:cNvSpPr>
          <p:nvPr>
            <p:ph type="subTitle" idx="1"/>
          </p:nvPr>
        </p:nvSpPr>
        <p:spPr>
          <a:xfrm>
            <a:off x="2044198" y="3402022"/>
            <a:ext cx="5055600" cy="4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xv6 Operating System Project</a:t>
            </a:r>
            <a:endParaRPr lang="en-US" dirty="0"/>
          </a:p>
        </p:txBody>
      </p:sp>
      <p:sp>
        <p:nvSpPr>
          <p:cNvPr id="164" name="Google Shape;164;p38"/>
          <p:cNvSpPr txBox="1">
            <a:spLocks noGrp="1"/>
          </p:cNvSpPr>
          <p:nvPr>
            <p:ph type="ctrTitle"/>
          </p:nvPr>
        </p:nvSpPr>
        <p:spPr>
          <a:xfrm>
            <a:off x="2941649" y="2404684"/>
            <a:ext cx="3260700" cy="464700"/>
          </a:xfrm>
          <a:prstGeom prst="rect">
            <a:avLst/>
          </a:prstGeom>
          <a:effectLst>
            <a:outerShdw blurRad="100013" dist="19050" dir="8460000" algn="bl" rotWithShape="0">
              <a:srgbClr val="76A5AF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Management</a:t>
            </a:r>
            <a:endParaRPr lang="en-US" sz="2400" dirty="0"/>
          </a:p>
        </p:txBody>
      </p:sp>
      <p:cxnSp>
        <p:nvCxnSpPr>
          <p:cNvPr id="165" name="Google Shape;165;p38"/>
          <p:cNvCxnSpPr/>
          <p:nvPr/>
        </p:nvCxnSpPr>
        <p:spPr>
          <a:xfrm>
            <a:off x="3190499" y="2347721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" name="Google Shape;163;p38">
            <a:extLst>
              <a:ext uri="{FF2B5EF4-FFF2-40B4-BE49-F238E27FC236}">
                <a16:creationId xmlns:a16="http://schemas.microsoft.com/office/drawing/2014/main" id="{BFDEEA09-14D1-A2B6-35F2-1B98323D7E67}"/>
              </a:ext>
            </a:extLst>
          </p:cNvPr>
          <p:cNvSpPr txBox="1">
            <a:spLocks/>
          </p:cNvSpPr>
          <p:nvPr/>
        </p:nvSpPr>
        <p:spPr>
          <a:xfrm>
            <a:off x="2301629" y="3660416"/>
            <a:ext cx="4540739" cy="83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i="1" dirty="0">
                <a:solidFill>
                  <a:srgbClr val="7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the xv6 scheduler to support process priorities, aging, preemption, and dynamic scheduling modes</a:t>
            </a:r>
            <a:endParaRPr lang="en-US" dirty="0"/>
          </a:p>
          <a:p>
            <a:pPr marL="0" indent="0"/>
            <a:r>
              <a:rPr lang="en-US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Operating System Project</a:t>
            </a:r>
            <a:endParaRPr lang="en-US" dirty="0"/>
          </a:p>
        </p:txBody>
      </p:sp>
      <p:sp>
        <p:nvSpPr>
          <p:cNvPr id="3" name="Google Shape;163;p38">
            <a:extLst>
              <a:ext uri="{FF2B5EF4-FFF2-40B4-BE49-F238E27FC236}">
                <a16:creationId xmlns:a16="http://schemas.microsoft.com/office/drawing/2014/main" id="{CC1604CF-592B-243C-10DB-3FCCAEFB7CC1}"/>
              </a:ext>
            </a:extLst>
          </p:cNvPr>
          <p:cNvSpPr txBox="1">
            <a:spLocks/>
          </p:cNvSpPr>
          <p:nvPr/>
        </p:nvSpPr>
        <p:spPr>
          <a:xfrm>
            <a:off x="5068753" y="4678800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Maya Anwar - 231000241</a:t>
            </a:r>
            <a:endParaRPr lang="en-US" dirty="0"/>
          </a:p>
        </p:txBody>
      </p:sp>
      <p:sp>
        <p:nvSpPr>
          <p:cNvPr id="7" name="Google Shape;163;p38">
            <a:extLst>
              <a:ext uri="{FF2B5EF4-FFF2-40B4-BE49-F238E27FC236}">
                <a16:creationId xmlns:a16="http://schemas.microsoft.com/office/drawing/2014/main" id="{7669C88D-8768-BF1E-EAE8-E1D77E7759A6}"/>
              </a:ext>
            </a:extLst>
          </p:cNvPr>
          <p:cNvSpPr txBox="1">
            <a:spLocks/>
          </p:cNvSpPr>
          <p:nvPr/>
        </p:nvSpPr>
        <p:spPr>
          <a:xfrm>
            <a:off x="2175899" y="2684124"/>
            <a:ext cx="5055600" cy="4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  <a:defRPr sz="1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US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Professor Reem Ibrahim Al Halwani</a:t>
            </a:r>
          </a:p>
          <a:p>
            <a:pPr marL="0" indent="0"/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>
            <a:spLocks noGrp="1"/>
          </p:cNvSpPr>
          <p:nvPr>
            <p:ph type="title" idx="6"/>
          </p:nvPr>
        </p:nvSpPr>
        <p:spPr>
          <a:xfrm>
            <a:off x="624703" y="133208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79" name="Google Shape;179;p40"/>
          <p:cNvSpPr txBox="1">
            <a:spLocks noGrp="1"/>
          </p:cNvSpPr>
          <p:nvPr>
            <p:ph type="title"/>
          </p:nvPr>
        </p:nvSpPr>
        <p:spPr>
          <a:xfrm>
            <a:off x="3114749" y="2176960"/>
            <a:ext cx="237775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CHANGED</a:t>
            </a:r>
            <a:endParaRPr dirty="0"/>
          </a:p>
        </p:txBody>
      </p:sp>
      <p:sp>
        <p:nvSpPr>
          <p:cNvPr id="181" name="Google Shape;181;p40"/>
          <p:cNvSpPr txBox="1">
            <a:spLocks noGrp="1"/>
          </p:cNvSpPr>
          <p:nvPr>
            <p:ph type="title" idx="2"/>
          </p:nvPr>
        </p:nvSpPr>
        <p:spPr>
          <a:xfrm>
            <a:off x="5604803" y="2210286"/>
            <a:ext cx="2774071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SCHEDULER DESIGN</a:t>
            </a:r>
            <a:endParaRPr lang="en-GB" dirty="0"/>
          </a:p>
        </p:txBody>
      </p:sp>
      <p:sp>
        <p:nvSpPr>
          <p:cNvPr id="183" name="Google Shape;183;p40"/>
          <p:cNvSpPr txBox="1">
            <a:spLocks noGrp="1"/>
          </p:cNvSpPr>
          <p:nvPr>
            <p:ph type="title" idx="4"/>
          </p:nvPr>
        </p:nvSpPr>
        <p:spPr>
          <a:xfrm>
            <a:off x="624700" y="2176960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 PROBLEM</a:t>
            </a:r>
          </a:p>
        </p:txBody>
      </p:sp>
      <p:sp>
        <p:nvSpPr>
          <p:cNvPr id="185" name="Google Shape;185;p40"/>
          <p:cNvSpPr txBox="1">
            <a:spLocks noGrp="1"/>
          </p:cNvSpPr>
          <p:nvPr>
            <p:ph type="title" idx="7"/>
          </p:nvPr>
        </p:nvSpPr>
        <p:spPr>
          <a:xfrm>
            <a:off x="3291520" y="133208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86" name="Google Shape;186;p40"/>
          <p:cNvSpPr txBox="1">
            <a:spLocks noGrp="1"/>
          </p:cNvSpPr>
          <p:nvPr>
            <p:ph type="title" idx="8"/>
          </p:nvPr>
        </p:nvSpPr>
        <p:spPr>
          <a:xfrm>
            <a:off x="5958338" y="1332085"/>
            <a:ext cx="20670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187" name="Google Shape;187;p40"/>
          <p:cNvCxnSpPr/>
          <p:nvPr/>
        </p:nvCxnSpPr>
        <p:spPr>
          <a:xfrm>
            <a:off x="1459603" y="210754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8" name="Google Shape;188;p40"/>
          <p:cNvCxnSpPr/>
          <p:nvPr/>
        </p:nvCxnSpPr>
        <p:spPr>
          <a:xfrm>
            <a:off x="4105024" y="210754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189" name="Google Shape;189;p40"/>
          <p:cNvCxnSpPr/>
          <p:nvPr/>
        </p:nvCxnSpPr>
        <p:spPr>
          <a:xfrm>
            <a:off x="6793238" y="2107545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4" name="Google Shape;178;p40">
            <a:extLst>
              <a:ext uri="{FF2B5EF4-FFF2-40B4-BE49-F238E27FC236}">
                <a16:creationId xmlns:a16="http://schemas.microsoft.com/office/drawing/2014/main" id="{347D5B71-1D11-AD93-DF78-8242E01F611C}"/>
              </a:ext>
            </a:extLst>
          </p:cNvPr>
          <p:cNvSpPr txBox="1">
            <a:spLocks/>
          </p:cNvSpPr>
          <p:nvPr/>
        </p:nvSpPr>
        <p:spPr>
          <a:xfrm>
            <a:off x="691611" y="2758686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/>
              <a:t>04</a:t>
            </a:r>
            <a:endParaRPr lang="en" dirty="0"/>
          </a:p>
        </p:txBody>
      </p:sp>
      <p:sp>
        <p:nvSpPr>
          <p:cNvPr id="15" name="Google Shape;181;p40">
            <a:extLst>
              <a:ext uri="{FF2B5EF4-FFF2-40B4-BE49-F238E27FC236}">
                <a16:creationId xmlns:a16="http://schemas.microsoft.com/office/drawing/2014/main" id="{FBEA7BBA-7875-0A1D-32B0-D3C2820BB479}"/>
              </a:ext>
            </a:extLst>
          </p:cNvPr>
          <p:cNvSpPr txBox="1">
            <a:spLocks/>
          </p:cNvSpPr>
          <p:nvPr/>
        </p:nvSpPr>
        <p:spPr>
          <a:xfrm>
            <a:off x="5671711" y="3636887"/>
            <a:ext cx="2774071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TEST CASES</a:t>
            </a:r>
            <a:endParaRPr lang="en-GB" dirty="0"/>
          </a:p>
        </p:txBody>
      </p:sp>
      <p:sp>
        <p:nvSpPr>
          <p:cNvPr id="16" name="Google Shape;183;p40">
            <a:extLst>
              <a:ext uri="{FF2B5EF4-FFF2-40B4-BE49-F238E27FC236}">
                <a16:creationId xmlns:a16="http://schemas.microsoft.com/office/drawing/2014/main" id="{FC72D751-8C41-E442-2450-4947EEB4E87A}"/>
              </a:ext>
            </a:extLst>
          </p:cNvPr>
          <p:cNvSpPr txBox="1">
            <a:spLocks/>
          </p:cNvSpPr>
          <p:nvPr/>
        </p:nvSpPr>
        <p:spPr>
          <a:xfrm>
            <a:off x="691611" y="3852602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N</a:t>
            </a:r>
            <a:r>
              <a:rPr lang="en-GB"/>
              <a:t>EW SYSTEM CALLS</a:t>
            </a:r>
            <a:endParaRPr lang="en-GB" dirty="0"/>
          </a:p>
        </p:txBody>
      </p:sp>
      <p:sp>
        <p:nvSpPr>
          <p:cNvPr id="17" name="Google Shape;185;p40">
            <a:extLst>
              <a:ext uri="{FF2B5EF4-FFF2-40B4-BE49-F238E27FC236}">
                <a16:creationId xmlns:a16="http://schemas.microsoft.com/office/drawing/2014/main" id="{8C1B57B9-1A6F-FBFF-0C66-486225FEC23F}"/>
              </a:ext>
            </a:extLst>
          </p:cNvPr>
          <p:cNvSpPr txBox="1">
            <a:spLocks/>
          </p:cNvSpPr>
          <p:nvPr/>
        </p:nvSpPr>
        <p:spPr>
          <a:xfrm>
            <a:off x="3358428" y="2758686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/>
              <a:t>05</a:t>
            </a:r>
            <a:endParaRPr lang="en" dirty="0"/>
          </a:p>
        </p:txBody>
      </p:sp>
      <p:sp>
        <p:nvSpPr>
          <p:cNvPr id="18" name="Google Shape;186;p40">
            <a:extLst>
              <a:ext uri="{FF2B5EF4-FFF2-40B4-BE49-F238E27FC236}">
                <a16:creationId xmlns:a16="http://schemas.microsoft.com/office/drawing/2014/main" id="{8D0F4010-050C-32D0-C33A-67AB452BFABA}"/>
              </a:ext>
            </a:extLst>
          </p:cNvPr>
          <p:cNvSpPr txBox="1">
            <a:spLocks/>
          </p:cNvSpPr>
          <p:nvPr/>
        </p:nvSpPr>
        <p:spPr>
          <a:xfrm>
            <a:off x="6025246" y="2758686"/>
            <a:ext cx="20670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 ExtraBold"/>
              <a:buNone/>
              <a:defRPr sz="3600" b="0" i="0" u="none" strike="noStrike" cap="none">
                <a:solidFill>
                  <a:schemeClr val="l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Montserrat"/>
              <a:buNone/>
              <a:defRPr sz="3600" b="0" i="0" u="none" strike="noStrike" cap="none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"/>
              <a:t>06</a:t>
            </a:r>
            <a:endParaRPr lang="en" dirty="0"/>
          </a:p>
        </p:txBody>
      </p:sp>
      <p:cxnSp>
        <p:nvCxnSpPr>
          <p:cNvPr id="19" name="Google Shape;187;p40">
            <a:extLst>
              <a:ext uri="{FF2B5EF4-FFF2-40B4-BE49-F238E27FC236}">
                <a16:creationId xmlns:a16="http://schemas.microsoft.com/office/drawing/2014/main" id="{791B26FD-4AC4-2D03-0139-C1AB0E8F6282}"/>
              </a:ext>
            </a:extLst>
          </p:cNvPr>
          <p:cNvCxnSpPr/>
          <p:nvPr/>
        </p:nvCxnSpPr>
        <p:spPr>
          <a:xfrm>
            <a:off x="1526511" y="3534146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0" name="Google Shape;188;p40">
            <a:extLst>
              <a:ext uri="{FF2B5EF4-FFF2-40B4-BE49-F238E27FC236}">
                <a16:creationId xmlns:a16="http://schemas.microsoft.com/office/drawing/2014/main" id="{AFA006C8-A098-E23E-2FF7-407B89CEC477}"/>
              </a:ext>
            </a:extLst>
          </p:cNvPr>
          <p:cNvCxnSpPr/>
          <p:nvPr/>
        </p:nvCxnSpPr>
        <p:spPr>
          <a:xfrm>
            <a:off x="4171932" y="3534146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" name="Google Shape;189;p40">
            <a:extLst>
              <a:ext uri="{FF2B5EF4-FFF2-40B4-BE49-F238E27FC236}">
                <a16:creationId xmlns:a16="http://schemas.microsoft.com/office/drawing/2014/main" id="{84FE6AF1-7E3D-767D-B083-B7F9D5DA9888}"/>
              </a:ext>
            </a:extLst>
          </p:cNvPr>
          <p:cNvCxnSpPr/>
          <p:nvPr/>
        </p:nvCxnSpPr>
        <p:spPr>
          <a:xfrm>
            <a:off x="6860146" y="3534146"/>
            <a:ext cx="3972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2" name="Google Shape;181;p40">
            <a:extLst>
              <a:ext uri="{FF2B5EF4-FFF2-40B4-BE49-F238E27FC236}">
                <a16:creationId xmlns:a16="http://schemas.microsoft.com/office/drawing/2014/main" id="{B81507FE-8BE2-F531-531F-12B8B93FC51C}"/>
              </a:ext>
            </a:extLst>
          </p:cNvPr>
          <p:cNvSpPr txBox="1">
            <a:spLocks/>
          </p:cNvSpPr>
          <p:nvPr/>
        </p:nvSpPr>
        <p:spPr>
          <a:xfrm>
            <a:off x="3004892" y="3855839"/>
            <a:ext cx="2774071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 dirty="0"/>
              <a:t>IMPLEMENTATION DETAILS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3760331" y="369138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207" name="Google Shape;207;p43"/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cxnSp>
        <p:nvCxnSpPr>
          <p:cNvPr id="209" name="Google Shape;209;p43"/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2" name="Google Shape;222;p45"/>
          <p:cNvCxnSpPr/>
          <p:nvPr/>
        </p:nvCxnSpPr>
        <p:spPr>
          <a:xfrm>
            <a:off x="419938" y="198649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23" name="Google Shape;223;p45"/>
          <p:cNvSpPr txBox="1">
            <a:spLocks noGrp="1"/>
          </p:cNvSpPr>
          <p:nvPr>
            <p:ph type="title"/>
          </p:nvPr>
        </p:nvSpPr>
        <p:spPr>
          <a:xfrm>
            <a:off x="606388" y="1300811"/>
            <a:ext cx="23901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(Before)</a:t>
            </a:r>
            <a:endParaRPr lang="en-US" dirty="0"/>
          </a:p>
        </p:txBody>
      </p:sp>
      <p:sp>
        <p:nvSpPr>
          <p:cNvPr id="224" name="Google Shape;224;p45"/>
          <p:cNvSpPr txBox="1">
            <a:spLocks noGrp="1"/>
          </p:cNvSpPr>
          <p:nvPr>
            <p:ph type="subTitle" idx="1"/>
          </p:nvPr>
        </p:nvSpPr>
        <p:spPr>
          <a:xfrm>
            <a:off x="334588" y="2187286"/>
            <a:ext cx="2933700" cy="2511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process gets equal CPU time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concept of importance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Critical processes wait in line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preemption of low-priority processes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starvation prevention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5" name="Google Shape;225;p45"/>
          <p:cNvSpPr txBox="1">
            <a:spLocks noGrp="1"/>
          </p:cNvSpPr>
          <p:nvPr>
            <p:ph type="title" idx="2"/>
          </p:nvPr>
        </p:nvSpPr>
        <p:spPr>
          <a:xfrm>
            <a:off x="4299375" y="1300811"/>
            <a:ext cx="2791245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Scheduler (After)</a:t>
            </a:r>
            <a:endParaRPr lang="en-US" dirty="0"/>
          </a:p>
        </p:txBody>
      </p:sp>
      <p:sp>
        <p:nvSpPr>
          <p:cNvPr id="226" name="Google Shape;226;p45"/>
          <p:cNvSpPr txBox="1">
            <a:spLocks noGrp="1"/>
          </p:cNvSpPr>
          <p:nvPr>
            <p:ph type="subTitle" idx="3"/>
          </p:nvPr>
        </p:nvSpPr>
        <p:spPr>
          <a:xfrm>
            <a:off x="4242731" y="2192205"/>
            <a:ext cx="2791246" cy="22204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Processes have priority 0–19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Lower number = higher priority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Scheduler always picks the best first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inherit parent priority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modes, including preemption and aging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7" name="Google Shape;227;p45"/>
          <p:cNvCxnSpPr>
            <a:cxnSpLocks/>
          </p:cNvCxnSpPr>
          <p:nvPr/>
        </p:nvCxnSpPr>
        <p:spPr>
          <a:xfrm>
            <a:off x="3741156" y="1300811"/>
            <a:ext cx="0" cy="2868853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6" name="Google Shape;222;p45">
            <a:extLst>
              <a:ext uri="{FF2B5EF4-FFF2-40B4-BE49-F238E27FC236}">
                <a16:creationId xmlns:a16="http://schemas.microsoft.com/office/drawing/2014/main" id="{2B4A3D1E-FAC7-0361-3846-52D663D3417E}"/>
              </a:ext>
            </a:extLst>
          </p:cNvPr>
          <p:cNvCxnSpPr/>
          <p:nvPr/>
        </p:nvCxnSpPr>
        <p:spPr>
          <a:xfrm>
            <a:off x="4242731" y="1986494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3358F39-AD5A-FED0-4414-C8A4C804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BBF4AEDC-4E01-710F-E773-9AEC3AED01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0331" y="3691385"/>
            <a:ext cx="30687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WHAT CHANGED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8414E412-7A54-5179-5A96-0AFFC110FCE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4EAB03E2-6052-E7E4-EBB3-4896CB25D30E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0936522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1"/>
          <p:cNvSpPr txBox="1">
            <a:spLocks noGrp="1"/>
          </p:cNvSpPr>
          <p:nvPr>
            <p:ph type="subTitle" idx="1"/>
          </p:nvPr>
        </p:nvSpPr>
        <p:spPr>
          <a:xfrm>
            <a:off x="4447823" y="172417"/>
            <a:ext cx="4244622" cy="46705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Priority-aware scheduler — always runs highest priority process first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4 scheduling modes switchable at runtime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Aging — low priority processes eventually get their turn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Priority inheritance — children inherit parent priority in fork()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 err="1"/>
              <a:t>Preemption</a:t>
            </a:r>
            <a:r>
              <a:rPr lang="en-GB" dirty="0"/>
              <a:t> — high priority process interrupts running one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3 new system calls for runtime process management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  <a:p>
            <a:pPr marL="285750" lvl="0" indent="-285750" algn="l">
              <a:buFontTx/>
              <a:buChar char="-"/>
            </a:pPr>
            <a:r>
              <a:rPr lang="en-GB" dirty="0"/>
              <a:t>4 test programs proving every feature works</a:t>
            </a:r>
          </a:p>
          <a:p>
            <a:pPr marL="285750" lvl="0" indent="-285750" algn="l">
              <a:buFontTx/>
              <a:buChar char="-"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E741A7-3465-CBB9-4BE6-70902A418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1111" y="2758722"/>
            <a:ext cx="3522133" cy="2084211"/>
          </a:xfrm>
        </p:spPr>
        <p:txBody>
          <a:bodyPr/>
          <a:lstStyle/>
          <a:p>
            <a:r>
              <a:rPr lang="en-GB" sz="4000" dirty="0"/>
              <a:t>What </a:t>
            </a:r>
            <a:br>
              <a:rPr lang="en-GB" sz="4000" dirty="0"/>
            </a:br>
            <a:r>
              <a:rPr lang="en-GB" sz="4000" dirty="0"/>
              <a:t>did I</a:t>
            </a:r>
            <a:br>
              <a:rPr lang="en-GB" sz="4000" dirty="0"/>
            </a:br>
            <a:r>
              <a:rPr lang="en-GB" sz="4000" dirty="0"/>
              <a:t> build?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054BAA5-314A-8495-FB46-BABC87C5D2D6}"/>
              </a:ext>
            </a:extLst>
          </p:cNvPr>
          <p:cNvSpPr txBox="1"/>
          <p:nvPr/>
        </p:nvSpPr>
        <p:spPr>
          <a:xfrm>
            <a:off x="97515" y="69452"/>
            <a:ext cx="371248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proc.h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US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Added int priority and int </a:t>
            </a:r>
            <a:r>
              <a:rPr lang="en-US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waited_ticks</a:t>
            </a:r>
            <a:r>
              <a:rPr lang="en-US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to struct proc</a:t>
            </a:r>
            <a:endParaRPr lang="en-US" sz="11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CFAC57-2CD1-84FF-B60C-EB5BD43EC083}"/>
              </a:ext>
            </a:extLst>
          </p:cNvPr>
          <p:cNvSpPr txBox="1"/>
          <p:nvPr/>
        </p:nvSpPr>
        <p:spPr>
          <a:xfrm>
            <a:off x="49597" y="833449"/>
            <a:ext cx="408349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proc.c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Rewrote scheduler() with 4 modes + aging, priority inheritance in fork()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45C345-9695-74D6-87B0-62A0AFD76192}"/>
              </a:ext>
            </a:extLst>
          </p:cNvPr>
          <p:cNvSpPr txBox="1"/>
          <p:nvPr/>
        </p:nvSpPr>
        <p:spPr>
          <a:xfrm>
            <a:off x="49597" y="1710648"/>
            <a:ext cx="399814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trap.c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Added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preemption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logic for Mode 1 in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usertrap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kerneltrap</a:t>
            </a:r>
            <a:endParaRPr lang="en-GB" sz="11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65BCBA-8945-3BD3-F574-43763E90F0A3}"/>
              </a:ext>
            </a:extLst>
          </p:cNvPr>
          <p:cNvSpPr txBox="1"/>
          <p:nvPr/>
        </p:nvSpPr>
        <p:spPr>
          <a:xfrm>
            <a:off x="15643" y="2498580"/>
            <a:ext cx="38762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syscall.h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Added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SYS_setpriority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(22),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SYS_sleep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(23),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SYS_getpriority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(24),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SYS_setsched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(25)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341044-81EF-706F-038A-92DB971B6E2B}"/>
              </a:ext>
            </a:extLst>
          </p:cNvPr>
          <p:cNvSpPr txBox="1"/>
          <p:nvPr/>
        </p:nvSpPr>
        <p:spPr>
          <a:xfrm>
            <a:off x="4557437" y="1002726"/>
            <a:ext cx="453696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ClrTx/>
              <a:defRPr/>
            </a:pPr>
            <a:r>
              <a:rPr lang="en-US" sz="1100" kern="12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lang="en-US" sz="1100" kern="12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sysproc.c</a:t>
            </a:r>
            <a:endParaRPr lang="en-US" sz="1100" kern="12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lvl="0">
              <a:buClrTx/>
              <a:defRPr/>
            </a:pPr>
            <a:endParaRPr lang="en-US" sz="1100" kern="12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sys_setpriority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pid,p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sys_getpriority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pid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sys_setsched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EAF737-90EF-48C3-C6E0-C08521678F9F}"/>
              </a:ext>
            </a:extLst>
          </p:cNvPr>
          <p:cNvSpPr txBox="1"/>
          <p:nvPr/>
        </p:nvSpPr>
        <p:spPr>
          <a:xfrm>
            <a:off x="4572000" y="1807570"/>
            <a:ext cx="46299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user.h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Declared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int,int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getpriority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(int),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setsched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(), sleep()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75DA15-A65C-6CB5-17AA-3BD7FDF8D420}"/>
              </a:ext>
            </a:extLst>
          </p:cNvPr>
          <p:cNvSpPr txBox="1"/>
          <p:nvPr/>
        </p:nvSpPr>
        <p:spPr>
          <a:xfrm>
            <a:off x="4667241" y="2735766"/>
            <a:ext cx="462991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user/usys.pl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Added user-space stubs for all new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syscalls</a:t>
            </a:r>
            <a:endParaRPr lang="en-GB" sz="110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8FB4F6-7677-8577-1E84-DB9B2327E97F}"/>
              </a:ext>
            </a:extLst>
          </p:cNvPr>
          <p:cNvSpPr txBox="1"/>
          <p:nvPr/>
        </p:nvSpPr>
        <p:spPr>
          <a:xfrm>
            <a:off x="4572000" y="69452"/>
            <a:ext cx="46482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i="0" u="none" strike="noStrike" kern="1200" normalizeH="0" baseline="0" noProof="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kernel/</a:t>
            </a:r>
            <a:r>
              <a:rPr kumimoji="0" lang="en-US" sz="1100" i="0" u="none" strike="noStrike" kern="1200" normalizeH="0" baseline="0" noProof="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syscall.c</a:t>
            </a: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i="0" u="none" strike="noStrike" kern="1200" normalizeH="0" baseline="0" noProof="0" dirty="0">
              <a:solidFill>
                <a:schemeClr val="bg1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  <a:uLnTx/>
              <a:uFillTx/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171450" indent="-171450">
              <a:buClrTx/>
              <a:buFont typeface="Wingdings" panose="05000000000000000000" pitchFamily="2" charset="2"/>
              <a:buChar char="Ø"/>
              <a:defRPr/>
            </a:pP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all new </a:t>
            </a:r>
            <a:r>
              <a:rPr lang="en-GB" sz="1100" dirty="0" err="1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syscalls</a:t>
            </a:r>
            <a:r>
              <a:rPr lang="en-GB" sz="11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 in the dispatch table</a:t>
            </a:r>
          </a:p>
        </p:txBody>
      </p:sp>
      <p:cxnSp>
        <p:nvCxnSpPr>
          <p:cNvPr id="27" name="Google Shape;2047;p59">
            <a:extLst>
              <a:ext uri="{FF2B5EF4-FFF2-40B4-BE49-F238E27FC236}">
                <a16:creationId xmlns:a16="http://schemas.microsoft.com/office/drawing/2014/main" id="{DE8DD9BB-2E42-3821-CD70-8D73FEC44170}"/>
              </a:ext>
            </a:extLst>
          </p:cNvPr>
          <p:cNvCxnSpPr>
            <a:cxnSpLocks/>
          </p:cNvCxnSpPr>
          <p:nvPr/>
        </p:nvCxnSpPr>
        <p:spPr>
          <a:xfrm>
            <a:off x="4233700" y="228534"/>
            <a:ext cx="0" cy="2949006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7" name="Title 2">
            <a:extLst>
              <a:ext uri="{FF2B5EF4-FFF2-40B4-BE49-F238E27FC236}">
                <a16:creationId xmlns:a16="http://schemas.microsoft.com/office/drawing/2014/main" id="{0DE84D1A-4B39-BC6E-BA38-72DD3ABAA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5657" y="3711091"/>
            <a:ext cx="6163167" cy="905240"/>
          </a:xfrm>
        </p:spPr>
        <p:txBody>
          <a:bodyPr/>
          <a:lstStyle/>
          <a:p>
            <a:r>
              <a:rPr lang="en-GB" sz="4000" dirty="0"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What did I change?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0869C467-E6C6-D574-5A75-D0B6FF5C5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C6BC18EE-C8D2-7050-D6F6-6F21B37B7C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0330" y="3691385"/>
            <a:ext cx="3323367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GB" dirty="0"/>
              <a:t>SCHEDULER DESIGN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216D4E09-A771-5FE3-614C-25A084701EB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B882F93A-FD4E-EAAA-246C-ACDE34CAC7FF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2554002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0" name="Google Shape;2070;p61"/>
          <p:cNvSpPr txBox="1">
            <a:spLocks noGrp="1"/>
          </p:cNvSpPr>
          <p:nvPr>
            <p:ph type="title" idx="4"/>
          </p:nvPr>
        </p:nvSpPr>
        <p:spPr>
          <a:xfrm>
            <a:off x="938500" y="445025"/>
            <a:ext cx="46293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REVIEWING CONCEPTS IS A GOOD IDEA</a:t>
            </a:r>
            <a:endParaRPr/>
          </a:p>
        </p:txBody>
      </p:sp>
      <p:cxnSp>
        <p:nvCxnSpPr>
          <p:cNvPr id="2071" name="Google Shape;2071;p61"/>
          <p:cNvCxnSpPr/>
          <p:nvPr/>
        </p:nvCxnSpPr>
        <p:spPr>
          <a:xfrm>
            <a:off x="1026200" y="41402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2072" name="Google Shape;2072;p61"/>
          <p:cNvSpPr txBox="1">
            <a:spLocks noGrp="1"/>
          </p:cNvSpPr>
          <p:nvPr>
            <p:ph type="title"/>
          </p:nvPr>
        </p:nvSpPr>
        <p:spPr>
          <a:xfrm>
            <a:off x="2414441" y="1794838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 1</a:t>
            </a:r>
            <a:endParaRPr dirty="0"/>
          </a:p>
        </p:txBody>
      </p:sp>
      <p:sp>
        <p:nvSpPr>
          <p:cNvPr id="2073" name="Google Shape;2073;p61"/>
          <p:cNvSpPr txBox="1">
            <a:spLocks noGrp="1"/>
          </p:cNvSpPr>
          <p:nvPr>
            <p:ph type="subTitle" idx="1"/>
          </p:nvPr>
        </p:nvSpPr>
        <p:spPr>
          <a:xfrm>
            <a:off x="2371485" y="2321558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rgbClr val="00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Preemptive</a:t>
            </a:r>
            <a:endParaRPr lang="en-US" dirty="0">
              <a:solidFill>
                <a:srgbClr val="007580"/>
              </a:solidFill>
            </a:endParaRPr>
          </a:p>
        </p:txBody>
      </p:sp>
      <p:sp>
        <p:nvSpPr>
          <p:cNvPr id="2074" name="Google Shape;2074;p61"/>
          <p:cNvSpPr txBox="1">
            <a:spLocks noGrp="1"/>
          </p:cNvSpPr>
          <p:nvPr>
            <p:ph type="title" idx="2"/>
          </p:nvPr>
        </p:nvSpPr>
        <p:spPr>
          <a:xfrm>
            <a:off x="4765593" y="1773365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 2 </a:t>
            </a:r>
            <a:endParaRPr dirty="0"/>
          </a:p>
        </p:txBody>
      </p:sp>
      <p:sp>
        <p:nvSpPr>
          <p:cNvPr id="2075" name="Google Shape;2075;p61"/>
          <p:cNvSpPr txBox="1">
            <a:spLocks noGrp="1"/>
          </p:cNvSpPr>
          <p:nvPr>
            <p:ph type="subTitle" idx="3"/>
          </p:nvPr>
        </p:nvSpPr>
        <p:spPr>
          <a:xfrm>
            <a:off x="4765593" y="2330004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rgbClr val="22D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dirty="0">
              <a:solidFill>
                <a:srgbClr val="22DEEE"/>
              </a:solidFill>
            </a:endParaRPr>
          </a:p>
        </p:txBody>
      </p:sp>
      <p:sp>
        <p:nvSpPr>
          <p:cNvPr id="2076" name="Google Shape;2076;p61"/>
          <p:cNvSpPr txBox="1">
            <a:spLocks noGrp="1"/>
          </p:cNvSpPr>
          <p:nvPr>
            <p:ph type="title" idx="5"/>
          </p:nvPr>
        </p:nvSpPr>
        <p:spPr>
          <a:xfrm>
            <a:off x="184950" y="1714223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Mode</a:t>
            </a:r>
            <a:r>
              <a:rPr lang="en" dirty="0"/>
              <a:t> 0</a:t>
            </a:r>
            <a:endParaRPr dirty="0"/>
          </a:p>
        </p:txBody>
      </p:sp>
      <p:sp>
        <p:nvSpPr>
          <p:cNvPr id="2077" name="Google Shape;2077;p61"/>
          <p:cNvSpPr txBox="1">
            <a:spLocks noGrp="1"/>
          </p:cNvSpPr>
          <p:nvPr>
            <p:ph type="subTitle" idx="6"/>
          </p:nvPr>
        </p:nvSpPr>
        <p:spPr>
          <a:xfrm>
            <a:off x="184950" y="2311808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Non-Preemptive</a:t>
            </a:r>
            <a:endParaRPr lang="en-US" dirty="0"/>
          </a:p>
        </p:txBody>
      </p:sp>
      <p:sp>
        <p:nvSpPr>
          <p:cNvPr id="2082" name="Google Shape;2082;p61"/>
          <p:cNvSpPr txBox="1">
            <a:spLocks noGrp="1"/>
          </p:cNvSpPr>
          <p:nvPr>
            <p:ph type="title" idx="14"/>
          </p:nvPr>
        </p:nvSpPr>
        <p:spPr>
          <a:xfrm>
            <a:off x="7010830" y="1822560"/>
            <a:ext cx="20670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 3</a:t>
            </a:r>
            <a:endParaRPr dirty="0"/>
          </a:p>
        </p:txBody>
      </p:sp>
      <p:sp>
        <p:nvSpPr>
          <p:cNvPr id="2083" name="Google Shape;2083;p61"/>
          <p:cNvSpPr txBox="1">
            <a:spLocks noGrp="1"/>
          </p:cNvSpPr>
          <p:nvPr>
            <p:ph type="subTitle" idx="15"/>
          </p:nvPr>
        </p:nvSpPr>
        <p:spPr>
          <a:xfrm>
            <a:off x="6952128" y="2289996"/>
            <a:ext cx="2067000" cy="64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(Default)</a:t>
            </a:r>
            <a:endParaRPr lang="en-US" dirty="0"/>
          </a:p>
        </p:txBody>
      </p:sp>
      <p:cxnSp>
        <p:nvCxnSpPr>
          <p:cNvPr id="2084" name="Google Shape;2084;p61"/>
          <p:cNvCxnSpPr/>
          <p:nvPr/>
        </p:nvCxnSpPr>
        <p:spPr>
          <a:xfrm>
            <a:off x="1315752" y="1319059"/>
            <a:ext cx="6707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2B231-19FF-07EE-647F-FE230E4A7D40}"/>
              </a:ext>
            </a:extLst>
          </p:cNvPr>
          <p:cNvSpPr txBox="1"/>
          <p:nvPr/>
        </p:nvSpPr>
        <p:spPr>
          <a:xfrm>
            <a:off x="0" y="2690998"/>
            <a:ext cx="2515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highest priority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to completion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47C6C7-8044-57DD-B0F1-0D466A17722A}"/>
              </a:ext>
            </a:extLst>
          </p:cNvPr>
          <p:cNvSpPr txBox="1"/>
          <p:nvPr/>
        </p:nvSpPr>
        <p:spPr>
          <a:xfrm>
            <a:off x="2121344" y="2671036"/>
            <a:ext cx="2853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priority process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preempts running one via </a:t>
            </a:r>
            <a:r>
              <a:rPr lang="en-US" sz="1400" dirty="0" err="1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trap.c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621F84-E565-693F-A0CA-1677D3E6D8FA}"/>
              </a:ext>
            </a:extLst>
          </p:cNvPr>
          <p:cNvSpPr txBox="1"/>
          <p:nvPr/>
        </p:nvSpPr>
        <p:spPr>
          <a:xfrm>
            <a:off x="4746464" y="2700748"/>
            <a:ext cx="2264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priority processes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fair turns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639C93-72B7-27F3-F226-5E68820F6BE5}"/>
              </a:ext>
            </a:extLst>
          </p:cNvPr>
          <p:cNvSpPr txBox="1"/>
          <p:nvPr/>
        </p:nvSpPr>
        <p:spPr>
          <a:xfrm>
            <a:off x="6861958" y="2684269"/>
            <a:ext cx="23217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+ boost after 50 ticks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prevent starvation</a:t>
            </a:r>
            <a:endParaRPr lang="en-US" sz="1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1FECA2-6AEE-819E-E2EB-2BB648AA8927}"/>
              </a:ext>
            </a:extLst>
          </p:cNvPr>
          <p:cNvSpPr txBox="1"/>
          <p:nvPr/>
        </p:nvSpPr>
        <p:spPr>
          <a:xfrm>
            <a:off x="766822" y="3600430"/>
            <a:ext cx="8145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Preemption (Mode 1): On every timer interrupt in the </a:t>
            </a:r>
            <a:r>
              <a:rPr lang="en-US" sz="1400" dirty="0" err="1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trap.c</a:t>
            </a: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if a higher priority process is RUNNABLE, the current process yields immediately.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DC6F05B8-88A5-53A8-7EE9-DF2F0AB8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06F2F5F5-64C9-8882-35AC-FE9BFD63A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0749" y="2571750"/>
            <a:ext cx="4484978" cy="18247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N</a:t>
            </a:r>
            <a:r>
              <a:rPr lang="en-GB" dirty="0"/>
              <a:t>EW SYSTEM CALLS</a:t>
            </a:r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20E89041-9833-1255-1052-D47B442765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B4F040EB-338B-E410-4D9D-F97E1EE338DC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0169140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59"/>
          <p:cNvSpPr txBox="1">
            <a:spLocks noGrp="1"/>
          </p:cNvSpPr>
          <p:nvPr>
            <p:ph type="title"/>
          </p:nvPr>
        </p:nvSpPr>
        <p:spPr>
          <a:xfrm>
            <a:off x="4996800" y="6618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/>
              <a:t>setpriority</a:t>
            </a:r>
            <a:r>
              <a:rPr lang="en-GB" sz="1800" dirty="0"/>
              <a:t>(int </a:t>
            </a:r>
            <a:r>
              <a:rPr lang="en-GB" sz="1800" dirty="0" err="1"/>
              <a:t>pid</a:t>
            </a:r>
            <a:r>
              <a:rPr lang="en-GB" sz="1800" dirty="0"/>
              <a:t>, int p)</a:t>
            </a:r>
          </a:p>
        </p:txBody>
      </p:sp>
      <p:sp>
        <p:nvSpPr>
          <p:cNvPr id="2042" name="Google Shape;2042;p59"/>
          <p:cNvSpPr txBox="1">
            <a:spLocks noGrp="1"/>
          </p:cNvSpPr>
          <p:nvPr>
            <p:ph type="subTitle" idx="1"/>
          </p:nvPr>
        </p:nvSpPr>
        <p:spPr>
          <a:xfrm>
            <a:off x="4911000" y="126585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Sets priority of any process by PID (0–19). Lower = higher priority.</a:t>
            </a:r>
          </a:p>
        </p:txBody>
      </p:sp>
      <p:sp>
        <p:nvSpPr>
          <p:cNvPr id="2043" name="Google Shape;2043;p59"/>
          <p:cNvSpPr txBox="1">
            <a:spLocks noGrp="1"/>
          </p:cNvSpPr>
          <p:nvPr>
            <p:ph type="title" idx="2"/>
          </p:nvPr>
        </p:nvSpPr>
        <p:spPr>
          <a:xfrm>
            <a:off x="4996800" y="209919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/>
              <a:t>getpriority</a:t>
            </a:r>
            <a:r>
              <a:rPr lang="en-GB" sz="2000" dirty="0"/>
              <a:t>(int </a:t>
            </a:r>
            <a:r>
              <a:rPr lang="en-GB" sz="2000" dirty="0" err="1"/>
              <a:t>pid</a:t>
            </a:r>
            <a:r>
              <a:rPr lang="en-GB" sz="2000" dirty="0"/>
              <a:t>)</a:t>
            </a:r>
          </a:p>
        </p:txBody>
      </p:sp>
      <p:sp>
        <p:nvSpPr>
          <p:cNvPr id="2044" name="Google Shape;2044;p59"/>
          <p:cNvSpPr txBox="1">
            <a:spLocks noGrp="1"/>
          </p:cNvSpPr>
          <p:nvPr>
            <p:ph type="subTitle" idx="3"/>
          </p:nvPr>
        </p:nvSpPr>
        <p:spPr>
          <a:xfrm>
            <a:off x="4911000" y="2703200"/>
            <a:ext cx="3330900" cy="4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Returns the priority of any process by PID.</a:t>
            </a:r>
          </a:p>
        </p:txBody>
      </p:sp>
      <p:sp>
        <p:nvSpPr>
          <p:cNvPr id="2045" name="Google Shape;2045;p59"/>
          <p:cNvSpPr txBox="1">
            <a:spLocks noGrp="1"/>
          </p:cNvSpPr>
          <p:nvPr>
            <p:ph type="title" idx="4"/>
          </p:nvPr>
        </p:nvSpPr>
        <p:spPr>
          <a:xfrm>
            <a:off x="4996800" y="3536543"/>
            <a:ext cx="3159300" cy="72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/>
              <a:t>setsched</a:t>
            </a:r>
            <a:r>
              <a:rPr lang="en-GB" sz="1800" dirty="0"/>
              <a:t>(int mode)</a:t>
            </a:r>
            <a:endParaRPr sz="1800" dirty="0"/>
          </a:p>
        </p:txBody>
      </p:sp>
      <p:sp>
        <p:nvSpPr>
          <p:cNvPr id="2046" name="Google Shape;2046;p59"/>
          <p:cNvSpPr txBox="1">
            <a:spLocks noGrp="1"/>
          </p:cNvSpPr>
          <p:nvPr>
            <p:ph type="subTitle" idx="5"/>
          </p:nvPr>
        </p:nvSpPr>
        <p:spPr>
          <a:xfrm>
            <a:off x="4572000" y="4140549"/>
            <a:ext cx="3669900" cy="8944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Switches scheduler mode at runtime (0=non-</a:t>
            </a:r>
            <a:r>
              <a:rPr lang="en-GB" dirty="0" err="1"/>
              <a:t>preemptive</a:t>
            </a:r>
            <a:r>
              <a:rPr lang="en-GB" dirty="0"/>
              <a:t>, 1=</a:t>
            </a:r>
            <a:r>
              <a:rPr lang="en-GB" dirty="0" err="1"/>
              <a:t>preemptive</a:t>
            </a:r>
            <a:r>
              <a:rPr lang="en-GB" dirty="0"/>
              <a:t>, 2=round-robin, 3=aging).</a:t>
            </a:r>
          </a:p>
        </p:txBody>
      </p:sp>
      <p:cxnSp>
        <p:nvCxnSpPr>
          <p:cNvPr id="2047" name="Google Shape;2047;p59"/>
          <p:cNvCxnSpPr/>
          <p:nvPr/>
        </p:nvCxnSpPr>
        <p:spPr>
          <a:xfrm>
            <a:off x="8843800" y="400167"/>
            <a:ext cx="0" cy="4358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7F718D4-8858-64E9-CEDE-790CF59D1547}"/>
              </a:ext>
            </a:extLst>
          </p:cNvPr>
          <p:cNvSpPr txBox="1"/>
          <p:nvPr/>
        </p:nvSpPr>
        <p:spPr>
          <a:xfrm>
            <a:off x="5110223" y="48641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p-&gt;priority = priority;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74E73-A8BE-FD39-3837-D6783983827F}"/>
              </a:ext>
            </a:extLst>
          </p:cNvPr>
          <p:cNvSpPr txBox="1"/>
          <p:nvPr/>
        </p:nvSpPr>
        <p:spPr>
          <a:xfrm>
            <a:off x="4299996" y="497176"/>
            <a:ext cx="4844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#22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420697-CE9E-616B-2EEA-8A4ABE816FBA}"/>
              </a:ext>
            </a:extLst>
          </p:cNvPr>
          <p:cNvSpPr txBox="1"/>
          <p:nvPr/>
        </p:nvSpPr>
        <p:spPr>
          <a:xfrm>
            <a:off x="4147201" y="2133268"/>
            <a:ext cx="4844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#24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4DA68-CD11-B9EE-626E-2A8CD307B996}"/>
              </a:ext>
            </a:extLst>
          </p:cNvPr>
          <p:cNvSpPr txBox="1"/>
          <p:nvPr/>
        </p:nvSpPr>
        <p:spPr>
          <a:xfrm>
            <a:off x="4911000" y="2103368"/>
            <a:ext cx="48440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p-&gt;priority;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9DB710-5FB6-A0B8-621F-CC8E473B9438}"/>
              </a:ext>
            </a:extLst>
          </p:cNvPr>
          <p:cNvSpPr txBox="1"/>
          <p:nvPr/>
        </p:nvSpPr>
        <p:spPr>
          <a:xfrm>
            <a:off x="4116830" y="3499713"/>
            <a:ext cx="491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#25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A9826E-0444-6C8A-5D55-5AAE8C612A51}"/>
              </a:ext>
            </a:extLst>
          </p:cNvPr>
          <p:cNvSpPr txBox="1"/>
          <p:nvPr/>
        </p:nvSpPr>
        <p:spPr>
          <a:xfrm>
            <a:off x="4996800" y="3516513"/>
            <a:ext cx="4919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 err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sched_mode</a:t>
            </a: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mode;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3CE65577-68CA-866B-5038-7C340D8F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F232448F-F52A-3FCF-70BC-67DDBB3FD8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0748" y="2571750"/>
            <a:ext cx="4780897" cy="18247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/>
              <a:t>IMPLEMENTATION DETAILS</a:t>
            </a:r>
            <a:endParaRPr lang="en-GB"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94F0CDA0-2E85-4C89-2AD6-C6E08D07936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0FBE0A78-60F4-A5AB-99F6-2A8D753DB71B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417297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63"/>
          <p:cNvSpPr txBox="1">
            <a:spLocks noGrp="1"/>
          </p:cNvSpPr>
          <p:nvPr>
            <p:ph type="title"/>
          </p:nvPr>
        </p:nvSpPr>
        <p:spPr>
          <a:xfrm>
            <a:off x="877540" y="210139"/>
            <a:ext cx="5043600" cy="9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Implementation Details</a:t>
            </a:r>
          </a:p>
        </p:txBody>
      </p:sp>
      <p:cxnSp>
        <p:nvCxnSpPr>
          <p:cNvPr id="2106" name="Google Shape;2106;p63"/>
          <p:cNvCxnSpPr/>
          <p:nvPr/>
        </p:nvCxnSpPr>
        <p:spPr>
          <a:xfrm>
            <a:off x="938500" y="269242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7" name="Google Shape;2107;p63"/>
          <p:cNvCxnSpPr/>
          <p:nvPr/>
        </p:nvCxnSpPr>
        <p:spPr>
          <a:xfrm>
            <a:off x="1241820" y="2309482"/>
            <a:ext cx="6447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108" name="Google Shape;2108;p63"/>
          <p:cNvCxnSpPr/>
          <p:nvPr/>
        </p:nvCxnSpPr>
        <p:spPr>
          <a:xfrm>
            <a:off x="4465320" y="992961"/>
            <a:ext cx="0" cy="2964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7" name="Text 2">
            <a:extLst>
              <a:ext uri="{FF2B5EF4-FFF2-40B4-BE49-F238E27FC236}">
                <a16:creationId xmlns:a16="http://schemas.microsoft.com/office/drawing/2014/main" id="{C85C780C-9E5B-4E86-7C63-ED159E60F76C}"/>
              </a:ext>
            </a:extLst>
          </p:cNvPr>
          <p:cNvSpPr/>
          <p:nvPr/>
        </p:nvSpPr>
        <p:spPr>
          <a:xfrm>
            <a:off x="647700" y="1085101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Inheritance in fork()</a:t>
            </a:r>
            <a:endParaRPr lang="en-US" sz="13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522637F-5CE6-6045-673F-7986A2C05BE9}"/>
              </a:ext>
            </a:extLst>
          </p:cNvPr>
          <p:cNvSpPr/>
          <p:nvPr/>
        </p:nvSpPr>
        <p:spPr>
          <a:xfrm>
            <a:off x="647700" y="177766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inherit their parent's priority automatically when forked.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1DADD5-0F2D-51A2-7F19-F631E7745418}"/>
              </a:ext>
            </a:extLst>
          </p:cNvPr>
          <p:cNvSpPr txBox="1"/>
          <p:nvPr/>
        </p:nvSpPr>
        <p:spPr>
          <a:xfrm>
            <a:off x="647480" y="1437515"/>
            <a:ext cx="3520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nsolas" panose="020B0609020204030204" pitchFamily="49" charset="0"/>
              <a:buChar char="*"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np-&gt;priority = p-&gt;priority;</a:t>
            </a:r>
            <a:endParaRPr lang="en-US" sz="14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CF0A91DF-941C-A8E3-E7C7-92C3A0865B17}"/>
              </a:ext>
            </a:extLst>
          </p:cNvPr>
          <p:cNvSpPr/>
          <p:nvPr/>
        </p:nvSpPr>
        <p:spPr>
          <a:xfrm>
            <a:off x="4800600" y="91572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setpriority works on any process</a:t>
            </a:r>
            <a:endParaRPr lang="en-US" sz="13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6AB3B284-FFEA-A724-7D23-AE12400F3350}"/>
              </a:ext>
            </a:extLst>
          </p:cNvPr>
          <p:cNvSpPr/>
          <p:nvPr/>
        </p:nvSpPr>
        <p:spPr>
          <a:xfrm>
            <a:off x="4747261" y="159060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parent can set the child priority by PID right after fork — enables precise control.</a:t>
            </a:r>
            <a:endParaRPr 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90DCE8-E69B-D557-A0B7-F43293020539}"/>
              </a:ext>
            </a:extLst>
          </p:cNvPr>
          <p:cNvSpPr txBox="1"/>
          <p:nvPr/>
        </p:nvSpPr>
        <p:spPr>
          <a:xfrm>
            <a:off x="4778980" y="128282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err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setpriority</a:t>
            </a: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 err="1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pid</a:t>
            </a: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5);</a:t>
            </a:r>
            <a:endParaRPr lang="en-US" sz="1400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1DA34487-0B11-5F26-A617-7A50DFE90190}"/>
              </a:ext>
            </a:extLst>
          </p:cNvPr>
          <p:cNvSpPr/>
          <p:nvPr/>
        </p:nvSpPr>
        <p:spPr>
          <a:xfrm>
            <a:off x="693420" y="23727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in trap.c</a:t>
            </a:r>
            <a:endParaRPr lang="en-US" sz="1300" dirty="0"/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F72885CE-EC3E-07DC-699E-78BEE4B81CCD}"/>
              </a:ext>
            </a:extLst>
          </p:cNvPr>
          <p:cNvSpPr/>
          <p:nvPr/>
        </p:nvSpPr>
        <p:spPr>
          <a:xfrm>
            <a:off x="784860" y="2611165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if(best-&gt;priority &lt; p-&gt;priority) yield();</a:t>
            </a:r>
            <a:endParaRPr lang="en-US" sz="11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C92DFFEB-A6DA-E4E5-87C5-8426F0F02D87}"/>
              </a:ext>
            </a:extLst>
          </p:cNvPr>
          <p:cNvSpPr/>
          <p:nvPr/>
        </p:nvSpPr>
        <p:spPr>
          <a:xfrm>
            <a:off x="784860" y="2850846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timer interrupt, checks if a higher priority process is waiting and yields.</a:t>
            </a:r>
            <a:endParaRPr lang="en-US" sz="11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045FD987-D75A-D311-243E-21E10A09502A}"/>
              </a:ext>
            </a:extLst>
          </p:cNvPr>
          <p:cNvSpPr/>
          <p:nvPr/>
        </p:nvSpPr>
        <p:spPr>
          <a:xfrm>
            <a:off x="4778980" y="2353643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prevents starvation</a:t>
            </a:r>
            <a:endParaRPr lang="en-US" sz="13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0DD2441E-B2B1-E40F-B35F-CE2DC8777C3F}"/>
              </a:ext>
            </a:extLst>
          </p:cNvPr>
          <p:cNvSpPr/>
          <p:nvPr/>
        </p:nvSpPr>
        <p:spPr>
          <a:xfrm>
            <a:off x="5006341" y="2611165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if(waited_ticks &gt;= 50) priority--;</a:t>
            </a:r>
            <a:endParaRPr lang="en-US" sz="1100" dirty="0"/>
          </a:p>
        </p:txBody>
      </p:sp>
      <p:sp>
        <p:nvSpPr>
          <p:cNvPr id="36" name="Text 20">
            <a:extLst>
              <a:ext uri="{FF2B5EF4-FFF2-40B4-BE49-F238E27FC236}">
                <a16:creationId xmlns:a16="http://schemas.microsoft.com/office/drawing/2014/main" id="{21624093-5A61-39D6-4645-18F6CFB99FDA}"/>
              </a:ext>
            </a:extLst>
          </p:cNvPr>
          <p:cNvSpPr/>
          <p:nvPr/>
        </p:nvSpPr>
        <p:spPr>
          <a:xfrm>
            <a:off x="4747261" y="2893784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 processes gradually get boosted so they never wait forever.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C063BD03-5604-C4A8-9CB5-35349F83D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120C9B70-E27E-4752-A2CD-16FA0FE44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0748" y="2571750"/>
            <a:ext cx="4780897" cy="18247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TEST </a:t>
            </a:r>
            <a:br>
              <a:rPr lang="en-US" dirty="0"/>
            </a:br>
            <a:r>
              <a:rPr lang="en-US" dirty="0"/>
              <a:t>CASES</a:t>
            </a:r>
            <a:endParaRPr lang="en-GB"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A9C4C5DF-4F27-9949-D128-87969F348BB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1AC91652-6ECE-D3E8-F65B-D56C1641B606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267860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278D4D8-9A10-ED48-1DD7-9B45C98F71DD}"/>
              </a:ext>
            </a:extLst>
          </p:cNvPr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3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A85CE3-6232-D174-B799-FDAFD175F18F}"/>
              </a:ext>
            </a:extLst>
          </p:cNvPr>
          <p:cNvSpPr/>
          <p:nvPr/>
        </p:nvSpPr>
        <p:spPr>
          <a:xfrm>
            <a:off x="594360" y="9052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priotest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C4CD3AC-9D91-3437-6368-D80D3B984C70}"/>
              </a:ext>
            </a:extLst>
          </p:cNvPr>
          <p:cNvSpPr/>
          <p:nvPr/>
        </p:nvSpPr>
        <p:spPr>
          <a:xfrm>
            <a:off x="2286000" y="91440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priotest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420AE80-5C3A-410B-4BEB-A4ADC9121450}"/>
              </a:ext>
            </a:extLst>
          </p:cNvPr>
          <p:cNvSpPr/>
          <p:nvPr/>
        </p:nvSpPr>
        <p:spPr>
          <a:xfrm>
            <a:off x="594360" y="119786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(prio 5) vs LOW (prio 15) — set via setpriority(getpid(), x)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6E77399-FA07-41AB-501D-4E65F97541F0}"/>
              </a:ext>
            </a:extLst>
          </p:cNvPr>
          <p:cNvSpPr/>
          <p:nvPr/>
        </p:nvSpPr>
        <p:spPr>
          <a:xfrm>
            <a:off x="5669280" y="923544"/>
            <a:ext cx="2926080" cy="502920"/>
          </a:xfrm>
          <a:prstGeom prst="rect">
            <a:avLst/>
          </a:prstGeom>
          <a:solidFill>
            <a:srgbClr val="1E3A4A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12BBE38-1781-5DCC-059B-D8E60E0983B0}"/>
              </a:ext>
            </a:extLst>
          </p:cNvPr>
          <p:cNvSpPr/>
          <p:nvPr/>
        </p:nvSpPr>
        <p:spPr>
          <a:xfrm>
            <a:off x="5715000" y="94183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My priority is: 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running: 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My priority is: 15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running: 0...</a:t>
            </a:r>
            <a:endParaRPr lang="en-US" sz="7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51544E8-B96A-70B0-EC64-68A9FF14786D}"/>
              </a:ext>
            </a:extLst>
          </p:cNvPr>
          <p:cNvSpPr/>
          <p:nvPr/>
        </p:nvSpPr>
        <p:spPr>
          <a:xfrm>
            <a:off x="594360" y="1508760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always runs before LOW ✓</a:t>
            </a:r>
            <a:endParaRPr lang="en-US" sz="11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F5E3DC3-AEEC-35D2-DC40-C89AECB55EFF}"/>
              </a:ext>
            </a:extLst>
          </p:cNvPr>
          <p:cNvSpPr/>
          <p:nvPr/>
        </p:nvSpPr>
        <p:spPr>
          <a:xfrm>
            <a:off x="594360" y="19293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schedtest</a:t>
            </a:r>
            <a:endParaRPr lang="en-US" sz="13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2485F78-983D-9205-0E2C-1C85015E0230}"/>
              </a:ext>
            </a:extLst>
          </p:cNvPr>
          <p:cNvSpPr/>
          <p:nvPr/>
        </p:nvSpPr>
        <p:spPr>
          <a:xfrm>
            <a:off x="2286000" y="19385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schedtest</a:t>
            </a:r>
            <a:endParaRPr lang="en-US" sz="11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6FE6F98A-85F2-5348-505D-5C283EE0AA05}"/>
              </a:ext>
            </a:extLst>
          </p:cNvPr>
          <p:cNvSpPr/>
          <p:nvPr/>
        </p:nvSpPr>
        <p:spPr>
          <a:xfrm>
            <a:off x="594360" y="222199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 (aging) + Mode 2 (round-robin) using setsched()</a:t>
            </a:r>
            <a:endParaRPr lang="en-US" sz="10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191035B-28F8-5A6B-1F38-EAB63D0FDC5B}"/>
              </a:ext>
            </a:extLst>
          </p:cNvPr>
          <p:cNvSpPr/>
          <p:nvPr/>
        </p:nvSpPr>
        <p:spPr>
          <a:xfrm>
            <a:off x="5669280" y="1947672"/>
            <a:ext cx="2926080" cy="502920"/>
          </a:xfrm>
          <a:prstGeom prst="rect">
            <a:avLst/>
          </a:prstGeom>
          <a:solidFill>
            <a:srgbClr val="1E3A4A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FE704FF-58DF-9A2F-ADAF-98CEBEC87AC7}"/>
              </a:ext>
            </a:extLst>
          </p:cNvPr>
          <p:cNvSpPr/>
          <p:nvPr/>
        </p:nvSpPr>
        <p:spPr>
          <a:xfrm>
            <a:off x="5715000" y="19659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(priority 5) running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HIGH: 0 → LOW: 0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(prio 5): 0 → P2: 0...</a:t>
            </a:r>
            <a:endParaRPr lang="en-US" sz="750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BCEF325D-ADED-DE0B-127C-3439D62D9255}"/>
              </a:ext>
            </a:extLst>
          </p:cNvPr>
          <p:cNvSpPr/>
          <p:nvPr/>
        </p:nvSpPr>
        <p:spPr>
          <a:xfrm>
            <a:off x="594360" y="2532888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+ round-robin both work ✓</a:t>
            </a:r>
            <a:endParaRPr lang="en-US" sz="1100" dirty="0"/>
          </a:p>
        </p:txBody>
      </p:sp>
      <p:sp>
        <p:nvSpPr>
          <p:cNvPr id="17" name="Text 19">
            <a:extLst>
              <a:ext uri="{FF2B5EF4-FFF2-40B4-BE49-F238E27FC236}">
                <a16:creationId xmlns:a16="http://schemas.microsoft.com/office/drawing/2014/main" id="{705C7BDA-24C8-1BF6-6415-512E748C3AB8}"/>
              </a:ext>
            </a:extLst>
          </p:cNvPr>
          <p:cNvSpPr/>
          <p:nvPr/>
        </p:nvSpPr>
        <p:spPr>
          <a:xfrm>
            <a:off x="594360" y="29535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finaltest</a:t>
            </a:r>
            <a:endParaRPr lang="en-US" sz="1300" dirty="0"/>
          </a:p>
        </p:txBody>
      </p:sp>
      <p:sp>
        <p:nvSpPr>
          <p:cNvPr id="18" name="Text 20">
            <a:extLst>
              <a:ext uri="{FF2B5EF4-FFF2-40B4-BE49-F238E27FC236}">
                <a16:creationId xmlns:a16="http://schemas.microsoft.com/office/drawing/2014/main" id="{B9B0F4FD-CFE9-7D22-9B03-D86605FE4839}"/>
              </a:ext>
            </a:extLst>
          </p:cNvPr>
          <p:cNvSpPr/>
          <p:nvPr/>
        </p:nvSpPr>
        <p:spPr>
          <a:xfrm>
            <a:off x="2286000" y="29626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finaltest</a:t>
            </a:r>
            <a:endParaRPr lang="en-US" sz="1100" dirty="0"/>
          </a:p>
        </p:txBody>
      </p:sp>
      <p:sp>
        <p:nvSpPr>
          <p:cNvPr id="19" name="Text 21">
            <a:extLst>
              <a:ext uri="{FF2B5EF4-FFF2-40B4-BE49-F238E27FC236}">
                <a16:creationId xmlns:a16="http://schemas.microsoft.com/office/drawing/2014/main" id="{BB1458E4-F73C-56BD-6566-ED6B6DD355C5}"/>
              </a:ext>
            </a:extLst>
          </p:cNvPr>
          <p:cNvSpPr/>
          <p:nvPr/>
        </p:nvSpPr>
        <p:spPr>
          <a:xfrm>
            <a:off x="594360" y="32461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demo: A (prio 3) vs B (prio 18), then C vs D equal priority</a:t>
            </a:r>
            <a:endParaRPr lang="en-US" sz="1000" dirty="0"/>
          </a:p>
        </p:txBody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27F8C8A1-E17A-A6CD-70ED-EB11097C942A}"/>
              </a:ext>
            </a:extLst>
          </p:cNvPr>
          <p:cNvSpPr/>
          <p:nvPr/>
        </p:nvSpPr>
        <p:spPr>
          <a:xfrm>
            <a:off x="5669280" y="2971800"/>
            <a:ext cx="2926080" cy="502920"/>
          </a:xfrm>
          <a:prstGeom prst="rect">
            <a:avLst/>
          </a:prstGeom>
          <a:solidFill>
            <a:srgbClr val="1E3A4A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B3AFB03C-3B35-B9D9-D40F-438E6E99CE9D}"/>
              </a:ext>
            </a:extLst>
          </p:cNvPr>
          <p:cNvSpPr/>
          <p:nvPr/>
        </p:nvSpPr>
        <p:spPr>
          <a:xfrm>
            <a:off x="5715000" y="299008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 priority: 3 → HIGH step 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priority: 18 → LOW step 1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tests passed!</a:t>
            </a:r>
            <a:endParaRPr lang="en-US" sz="750" dirty="0"/>
          </a:p>
        </p:txBody>
      </p:sp>
      <p:sp>
        <p:nvSpPr>
          <p:cNvPr id="22" name="Text 24">
            <a:extLst>
              <a:ext uri="{FF2B5EF4-FFF2-40B4-BE49-F238E27FC236}">
                <a16:creationId xmlns:a16="http://schemas.microsoft.com/office/drawing/2014/main" id="{F8C20F1C-4366-BBB8-C91F-CC0AEA1524BE}"/>
              </a:ext>
            </a:extLst>
          </p:cNvPr>
          <p:cNvSpPr/>
          <p:nvPr/>
        </p:nvSpPr>
        <p:spPr>
          <a:xfrm>
            <a:off x="594360" y="3557016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getpriority(pid) correct, all modes work ✓</a:t>
            </a:r>
            <a:endParaRPr lang="en-US" sz="1100" dirty="0"/>
          </a:p>
        </p:txBody>
      </p:sp>
      <p:sp>
        <p:nvSpPr>
          <p:cNvPr id="24" name="Text 27">
            <a:extLst>
              <a:ext uri="{FF2B5EF4-FFF2-40B4-BE49-F238E27FC236}">
                <a16:creationId xmlns:a16="http://schemas.microsoft.com/office/drawing/2014/main" id="{D8FF1FB9-2FFF-4E78-DDD7-136ABD540655}"/>
              </a:ext>
            </a:extLst>
          </p:cNvPr>
          <p:cNvSpPr/>
          <p:nvPr/>
        </p:nvSpPr>
        <p:spPr>
          <a:xfrm>
            <a:off x="594360" y="39776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preempttest</a:t>
            </a:r>
            <a:endParaRPr lang="en-US" sz="1300" dirty="0"/>
          </a:p>
        </p:txBody>
      </p:sp>
      <p:sp>
        <p:nvSpPr>
          <p:cNvPr id="25" name="Text 28">
            <a:extLst>
              <a:ext uri="{FF2B5EF4-FFF2-40B4-BE49-F238E27FC236}">
                <a16:creationId xmlns:a16="http://schemas.microsoft.com/office/drawing/2014/main" id="{6E5738DE-3E6D-3F1B-CAB3-41E119F84B7C}"/>
              </a:ext>
            </a:extLst>
          </p:cNvPr>
          <p:cNvSpPr/>
          <p:nvPr/>
        </p:nvSpPr>
        <p:spPr>
          <a:xfrm>
            <a:off x="2286000" y="39867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preempttest</a:t>
            </a:r>
            <a:endParaRPr lang="en-US" sz="1100" dirty="0"/>
          </a:p>
        </p:txBody>
      </p:sp>
      <p:sp>
        <p:nvSpPr>
          <p:cNvPr id="26" name="Text 29">
            <a:extLst>
              <a:ext uri="{FF2B5EF4-FFF2-40B4-BE49-F238E27FC236}">
                <a16:creationId xmlns:a16="http://schemas.microsoft.com/office/drawing/2014/main" id="{FAB217B3-0B8B-3E39-766E-F88449CB6DCC}"/>
              </a:ext>
            </a:extLst>
          </p:cNvPr>
          <p:cNvSpPr/>
          <p:nvPr/>
        </p:nvSpPr>
        <p:spPr>
          <a:xfrm>
            <a:off x="594360" y="427024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preemption: HIGH (prio 2) interrupts LOW (prio 15) mid-execution</a:t>
            </a:r>
            <a:endParaRPr lang="en-US" sz="1000" dirty="0"/>
          </a:p>
        </p:txBody>
      </p:sp>
      <p:sp>
        <p:nvSpPr>
          <p:cNvPr id="27" name="Shape 30">
            <a:extLst>
              <a:ext uri="{FF2B5EF4-FFF2-40B4-BE49-F238E27FC236}">
                <a16:creationId xmlns:a16="http://schemas.microsoft.com/office/drawing/2014/main" id="{E4F6B143-83C1-1949-1F2B-B51C43B71B1A}"/>
              </a:ext>
            </a:extLst>
          </p:cNvPr>
          <p:cNvSpPr/>
          <p:nvPr/>
        </p:nvSpPr>
        <p:spPr>
          <a:xfrm>
            <a:off x="5669280" y="3995928"/>
            <a:ext cx="2926080" cy="502920"/>
          </a:xfrm>
          <a:prstGeom prst="rect">
            <a:avLst/>
          </a:prstGeom>
          <a:solidFill>
            <a:srgbClr val="1E3A4A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9E2E73A8-145E-F244-0847-6520E2C81AEA}"/>
              </a:ext>
            </a:extLst>
          </p:cNvPr>
          <p:cNvSpPr/>
          <p:nvPr/>
        </p:nvSpPr>
        <p:spPr>
          <a:xfrm>
            <a:off x="5715000" y="401421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[LOW] started, running...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[HIGH] started — preempting!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[HIGH] steps 1-5 done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[LOW] finished</a:t>
            </a:r>
            <a:endParaRPr lang="en-US" sz="750" dirty="0"/>
          </a:p>
        </p:txBody>
      </p:sp>
      <p:sp>
        <p:nvSpPr>
          <p:cNvPr id="29" name="Text 32">
            <a:extLst>
              <a:ext uri="{FF2B5EF4-FFF2-40B4-BE49-F238E27FC236}">
                <a16:creationId xmlns:a16="http://schemas.microsoft.com/office/drawing/2014/main" id="{1E1F1D02-B4B2-A9C9-6D1A-F43F3AF7D250}"/>
              </a:ext>
            </a:extLst>
          </p:cNvPr>
          <p:cNvSpPr/>
          <p:nvPr/>
        </p:nvSpPr>
        <p:spPr>
          <a:xfrm>
            <a:off x="594360" y="4581144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preempted LOW successfully ✓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>
          <a:extLst>
            <a:ext uri="{FF2B5EF4-FFF2-40B4-BE49-F238E27FC236}">
              <a16:creationId xmlns:a16="http://schemas.microsoft.com/office/drawing/2014/main" id="{F487C32F-C58E-7578-2628-770EAC188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>
            <a:extLst>
              <a:ext uri="{FF2B5EF4-FFF2-40B4-BE49-F238E27FC236}">
                <a16:creationId xmlns:a16="http://schemas.microsoft.com/office/drawing/2014/main" id="{53653588-8BD7-E8ED-A811-FA0B539F34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0748" y="2571750"/>
            <a:ext cx="4780897" cy="18247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 err="1"/>
              <a:t>pipline</a:t>
            </a:r>
            <a:endParaRPr lang="en-GB" dirty="0"/>
          </a:p>
        </p:txBody>
      </p:sp>
      <p:sp>
        <p:nvSpPr>
          <p:cNvPr id="207" name="Google Shape;207;p43">
            <a:extLst>
              <a:ext uri="{FF2B5EF4-FFF2-40B4-BE49-F238E27FC236}">
                <a16:creationId xmlns:a16="http://schemas.microsoft.com/office/drawing/2014/main" id="{2C074A9F-7701-455F-A7FF-DC104BB1BEF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048270" y="3287500"/>
            <a:ext cx="2412900" cy="93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cxnSp>
        <p:nvCxnSpPr>
          <p:cNvPr id="209" name="Google Shape;209;p43">
            <a:extLst>
              <a:ext uri="{FF2B5EF4-FFF2-40B4-BE49-F238E27FC236}">
                <a16:creationId xmlns:a16="http://schemas.microsoft.com/office/drawing/2014/main" id="{E1E5C9DF-63E0-E961-FBF9-B6BC5F7C2583}"/>
              </a:ext>
            </a:extLst>
          </p:cNvPr>
          <p:cNvCxnSpPr/>
          <p:nvPr/>
        </p:nvCxnSpPr>
        <p:spPr>
          <a:xfrm>
            <a:off x="3610750" y="3253297"/>
            <a:ext cx="0" cy="999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4510896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4E91D6-D773-772F-2119-FC0A9CE4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67"/>
          <p:cNvSpPr txBox="1">
            <a:spLocks noGrp="1"/>
          </p:cNvSpPr>
          <p:nvPr>
            <p:ph type="title"/>
          </p:nvPr>
        </p:nvSpPr>
        <p:spPr>
          <a:xfrm>
            <a:off x="2062800" y="2442050"/>
            <a:ext cx="5018400" cy="59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sp>
        <p:nvSpPr>
          <p:cNvPr id="2153" name="Google Shape;2153;p67"/>
          <p:cNvSpPr txBox="1">
            <a:spLocks noGrp="1"/>
          </p:cNvSpPr>
          <p:nvPr>
            <p:ph type="subTitle" idx="1"/>
          </p:nvPr>
        </p:nvSpPr>
        <p:spPr>
          <a:xfrm>
            <a:off x="2896500" y="3391325"/>
            <a:ext cx="3351000" cy="119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Any questions?</a:t>
            </a:r>
            <a:endParaRPr sz="2800" dirty="0"/>
          </a:p>
        </p:txBody>
      </p:sp>
      <p:cxnSp>
        <p:nvCxnSpPr>
          <p:cNvPr id="2154" name="Google Shape;2154;p67"/>
          <p:cNvCxnSpPr/>
          <p:nvPr/>
        </p:nvCxnSpPr>
        <p:spPr>
          <a:xfrm>
            <a:off x="3190500" y="3203297"/>
            <a:ext cx="2763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Futuristic Background by Slidesgo">
  <a:themeElements>
    <a:clrScheme name="Simple Light">
      <a:dk1>
        <a:srgbClr val="3EDDDD"/>
      </a:dk1>
      <a:lt1>
        <a:srgbClr val="FFFFFF"/>
      </a:lt1>
      <a:dk2>
        <a:srgbClr val="C6FCFF"/>
      </a:dk2>
      <a:lt2>
        <a:srgbClr val="6BECF3"/>
      </a:lt2>
      <a:accent1>
        <a:srgbClr val="22DEEE"/>
      </a:accent1>
      <a:accent2>
        <a:srgbClr val="C6FCFF"/>
      </a:accent2>
      <a:accent3>
        <a:srgbClr val="81EBEB"/>
      </a:accent3>
      <a:accent4>
        <a:srgbClr val="038B99"/>
      </a:accent4>
      <a:accent5>
        <a:srgbClr val="40B6B6"/>
      </a:accent5>
      <a:accent6>
        <a:srgbClr val="098188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862</Words>
  <Application>Microsoft Office PowerPoint</Application>
  <PresentationFormat>On-screen Show (16:9)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Consolas</vt:lpstr>
      <vt:lpstr>Montserrat ExtraBold</vt:lpstr>
      <vt:lpstr>Calibri</vt:lpstr>
      <vt:lpstr>Montserrat</vt:lpstr>
      <vt:lpstr>Wingdings</vt:lpstr>
      <vt:lpstr>Futuristic Background by Slidesgo</vt:lpstr>
      <vt:lpstr>Priority-Based</vt:lpstr>
      <vt:lpstr>01</vt:lpstr>
      <vt:lpstr>THE PROBLEM</vt:lpstr>
      <vt:lpstr>Round-Robin (Before)</vt:lpstr>
      <vt:lpstr>WHAT CHANGED</vt:lpstr>
      <vt:lpstr>What  did I  build?</vt:lpstr>
      <vt:lpstr>What did I change?</vt:lpstr>
      <vt:lpstr>SCHEDULER DESIGN</vt:lpstr>
      <vt:lpstr>REVIEWING CONCEPTS IS A GOOD IDEA</vt:lpstr>
      <vt:lpstr>NEW SYSTEM CALLS</vt:lpstr>
      <vt:lpstr>setpriority(int pid, int p)</vt:lpstr>
      <vt:lpstr>IMPLEMENTATION DETAILS</vt:lpstr>
      <vt:lpstr>Implementation Details</vt:lpstr>
      <vt:lpstr>TEST  CASES</vt:lpstr>
      <vt:lpstr>PowerPoint Presentation</vt:lpstr>
      <vt:lpstr>Project pipline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Maya Yassin Anwar</cp:lastModifiedBy>
  <cp:revision>5</cp:revision>
  <dcterms:modified xsi:type="dcterms:W3CDTF">2026-05-15T19:09:04Z</dcterms:modified>
</cp:coreProperties>
</file>